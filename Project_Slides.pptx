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3A5F"/>
                </a:solidFill>
                <a:latin typeface="Arial"/>
              </a:rPr>
              <a:t>Accuracy progression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 RAG</c:v>
                  </c:pt>
                  <c:pt idx="1">
                    <c:v>Upgraded
(textbook)</c:v>
                  </c:pt>
                  <c:pt idx="2">
                    <c:v>Cond5 v1
(textbook+KG)</c:v>
                  </c:pt>
                  <c:pt idx="3">
                    <c:v>Cond5 v2
(rerank+adaptive)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</c:v>
                </c:pt>
                <c:pt idx="1">
                  <c:v>57</c:v>
                </c:pt>
                <c:pt idx="2">
                  <c:v>53</c:v>
                </c:pt>
                <c:pt idx="3">
                  <c:v>56.5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E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A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A9D8F">
                <a:alpha val="9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Always P</c:v>
                  </c:pt>
                  <c:pt idx="1">
                    <c:v>Always T</c:v>
                  </c:pt>
                  <c:pt idx="2">
                    <c:v>Always H</c:v>
                  </c:pt>
                  <c:pt idx="3">
                    <c:v>Router+SC</c:v>
                  </c:pt>
                  <c:pt idx="4">
                    <c:v>Oracle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54.5</c:v>
                </c:pt>
                <c:pt idx="1">
                  <c:v>54.5</c:v>
                </c:pt>
                <c:pt idx="2">
                  <c:v>55</c:v>
                </c:pt>
                <c:pt idx="3">
                  <c:v>55.5</c:v>
                </c:pt>
                <c:pt idx="4">
                  <c:v>65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E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A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3192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0"/>
            <a:ext cx="137160" cy="2286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RAG for Medical QA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Retrieval with Knowledge Graph Augmentation on MedQA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676A · Deep Learning · Spring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Ishaq Miyawala · Maqsood Ahmed · Rupesh Chowdary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0" y="2286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57.0%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8503920" y="3246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pipeline accuracy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+6pp over baseline RAG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RAG made our model worse, not better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109728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baseline: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Parametric  </a:t>
            </a:r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54.5%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Naive RAG   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51.0%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hurt accuracy by 3.5pp. Why?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MedQA val set, 200 questions, F1 score 58.3% (RAG) vs 60.6% (parametric)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0" y="1645920"/>
            <a:ext cx="4297680" cy="1828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1645920"/>
            <a:ext cx="109728" cy="1828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80960" y="21031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54.5%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768096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Gemma2-9B + CoT only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3657600"/>
            <a:ext cx="4297680" cy="18288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0" y="3657600"/>
            <a:ext cx="109728" cy="18288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0" y="4114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51.0%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768096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MedCPT + textbook + Gemma2-9B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· CSE 676A · Spring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Baseline RAG Fails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root causes verified in the 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109728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440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640080" cy="1417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640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25880" y="19202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truncation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2860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MedCPT query encoder cuts at 64 tokens. USMLE vignettes are 200+. The actual question never reaches the encoder.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440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783080"/>
            <a:ext cx="640080" cy="1417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783080"/>
            <a:ext cx="640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949440" y="19202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Question-only retrieval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0" y="22860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Drug/disease names in MC options are the most retrievable terms, but the pipeline never queries them.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5440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383280"/>
            <a:ext cx="640080" cy="1417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83280"/>
            <a:ext cx="640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325880" y="35204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reranking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8862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Top-7 FAISS passages go straight into the prompt. Ranks 4–7 are often noise.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383280"/>
            <a:ext cx="5440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3383280"/>
            <a:ext cx="640080" cy="1417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3383280"/>
            <a:ext cx="640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949440" y="35204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Letter-only prompt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49440" y="38862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max_tokens=16. Model can't reason — must commit to a letter without thinking.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5440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983480"/>
            <a:ext cx="640080" cy="1417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983480"/>
            <a:ext cx="640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325880" y="51206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inject context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54864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retrieval scores are low (passages are noise), they get fed to the LLM.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· CSE 676A · Spring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Upgraded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targeted fixes applied to the baseline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109728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extraction (last 1–2 sentences fit in 64-token window)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423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 retrieval: stem + per-option entity queries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MedCPT cross-encoder reranking (512-token window, full attention)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611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prompting with max_tokens=512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206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context injection (skip if cross-encoder score &lt; 2.0)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75488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800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context blocks separating KG facts from textbook evidence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863840" y="1828800"/>
            <a:ext cx="3840480" cy="3931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0" y="1828800"/>
            <a:ext cx="3840480" cy="1371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55280" y="2606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57.0%</a:t>
            </a:r>
            <a:endParaRPr lang="en-US" sz="8000" dirty="0"/>
          </a:p>
        </p:txBody>
      </p:sp>
      <p:sp>
        <p:nvSpPr>
          <p:cNvPr id="27" name="Text 25"/>
          <p:cNvSpPr/>
          <p:nvPr/>
        </p:nvSpPr>
        <p:spPr>
          <a:xfrm>
            <a:off x="79552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MedQA val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55280" y="4160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63.3%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95528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F1 score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955280" y="5257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+6pp over baseline RAG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· CSE 676A · Spring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retrieval + reasoning 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109728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3200400"/>
            <a:ext cx="1417320" cy="91440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32004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01368" y="3657600"/>
            <a:ext cx="128016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947672" y="3200400"/>
            <a:ext cx="1417320" cy="914400"/>
          </a:xfrm>
          <a:prstGeom prst="rect">
            <a:avLst/>
          </a:prstGeom>
          <a:solidFill>
            <a:srgbClr val="2A9D8F"/>
          </a:solidFill>
          <a:ln/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47672" y="32004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3657600"/>
            <a:ext cx="128016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29584" y="3200400"/>
            <a:ext cx="1417320" cy="914400"/>
          </a:xfrm>
          <a:prstGeom prst="rect">
            <a:avLst/>
          </a:prstGeom>
          <a:solidFill>
            <a:srgbClr val="2A9D8F"/>
          </a:solidFill>
          <a:ln/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9584" y="32004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65192" y="3657600"/>
            <a:ext cx="128016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11496" y="3200400"/>
            <a:ext cx="1417320" cy="914400"/>
          </a:xfrm>
          <a:prstGeom prst="rect">
            <a:avLst/>
          </a:prstGeom>
          <a:solidFill>
            <a:srgbClr val="2A9D8F"/>
          </a:solidFill>
          <a:ln/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11496" y="32004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47104" y="3657600"/>
            <a:ext cx="128016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93408" y="3200400"/>
            <a:ext cx="1417320" cy="914400"/>
          </a:xfrm>
          <a:prstGeom prst="rect">
            <a:avLst/>
          </a:prstGeom>
          <a:solidFill>
            <a:srgbClr val="2A9D8F"/>
          </a:solidFill>
          <a:ln/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93408" y="32004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9016" y="3657600"/>
            <a:ext cx="128016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75320" y="3200400"/>
            <a:ext cx="141732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75320" y="32004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Gemma2-9B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710928" y="3657600"/>
            <a:ext cx="128016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857232" y="3200400"/>
            <a:ext cx="1417320" cy="91440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857232" y="32004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from baseline (cached)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029200"/>
            <a:ext cx="3657600" cy="0"/>
          </a:xfrm>
          <a:prstGeom prst="line">
            <a:avLst/>
          </a:prstGeom>
          <a:noFill/>
          <a:ln w="12700">
            <a:solidFill>
              <a:srgbClr val="6C7A89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7548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components (this work)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Per-question latency: ~1.5s on T4 GPU · No retraining required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· CSE 676A · Spring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Graph Integration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 failed; PrimeKG worked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109728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402336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109728" cy="4023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 SPARQL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Coverage: 14%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4983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429 rate limiting on every call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extractor: '59yearold', 'with'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scispaCy fixed entities, coverage still bad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 medical coverage is patchy by design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40233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1691640"/>
            <a:ext cx="109728" cy="40233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828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PRIMEKG (HARVARD)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1945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Coverage: 87.5%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0800" y="2971800"/>
            <a:ext cx="4983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 relations from 17 medical sources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17K diseases · 8K drugs · 28K proteins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CSV download, no rate limits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specifically for biomedical ML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Chandak et al. 2023 (PrimeKG, Nature Sci. Data) · DrugBank, MONDO, HPO, DisGeNET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· CSE 676A · Spring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KG-Augmented Pipeline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 + adaptive injection + NL formatting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109728" cy="502920"/>
          </a:xfrm>
          <a:prstGeom prst="rect">
            <a:avLst/>
          </a:prstGeom>
          <a:solidFill>
            <a:srgbClr val="2A9D8F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691640"/>
            <a:ext cx="4023360" cy="4114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63840" y="228600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+5.5pp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Cond5 v2 vs baseline RAG
</a:t>
            </a:r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questions had KG injected
</a:t>
            </a:r>
            <a:pPr indent="0" marL="0">
              <a:buNone/>
            </a:pPr>
            <a:r>
              <a:rPr lang="en-US" sz="1100" i="1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(adaptive threshold filtered the rest)
</a:t>
            </a:r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rescued, </a:t>
            </a:r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broken
</a:t>
            </a:r>
            <a:pPr indent="0" marL="0">
              <a:buNone/>
            </a:pPr>
            <a:r>
              <a:rPr lang="en-US" sz="1100" i="1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(KG signal small but adaptive filter prevents harm)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· CSE 676A · Spring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MLP Router for Adaptive Mode Selection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when to use parametric vs RAG vs KG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109728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657600" cy="4297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91440" cy="42976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INPUT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retrieval features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     cross-encoder scores, candidate counts,
     bi-encoder top score, KG triple count
</a:t>
            </a:r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question-type flags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     treatment, diagnosis, mechanism,
     side_effect, lab_interp, anatomy
</a:t>
            </a:r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entity &amp; relation features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chemical/disease entity counts,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options-are-drugs flag, top KG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relation, mean option length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880360"/>
            <a:ext cx="640080" cy="1554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880360"/>
            <a:ext cx="640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30368" y="3657600"/>
            <a:ext cx="36576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23560" y="2743200"/>
            <a:ext cx="640080" cy="1828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5623560" y="274320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81928" y="3657600"/>
            <a:ext cx="36576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675120" y="2971800"/>
            <a:ext cx="640080" cy="13716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97180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33488" y="3657600"/>
            <a:ext cx="36576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26680" y="3246120"/>
            <a:ext cx="640080" cy="822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7726680" y="32461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5120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Dropout(0.25)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5394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3 modes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5669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~960 parameters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0" y="1691640"/>
            <a:ext cx="3291840" cy="4297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2480" y="1691640"/>
            <a:ext cx="91440" cy="42976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5" name="Text 23"/>
          <p:cNvSpPr/>
          <p:nvPr/>
        </p:nvSpPr>
        <p:spPr>
          <a:xfrm>
            <a:off x="864108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OUTPUT MODES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686800" y="246888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2688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26880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Gemma2 + CoT only,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retrieved context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686800" y="361188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326880" y="3611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32688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MedCPT RAG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injection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686800" y="475488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326880" y="4754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326880" y="5074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PrimeKG triples,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adaptive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· CSE 676A · Spring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Router Training Setup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ground truth labels from per-mode correctness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109728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Run all 3 modes on each training question (deterministic, temp=0)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2004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P: is_correct =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2194560"/>
            <a:ext cx="3200400" cy="914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2194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T: is_correct = 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2194560"/>
            <a:ext cx="3200400" cy="9144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2194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H: is_correct =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Build soft label from correctness vector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4048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Label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0, 0) — only P right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0, 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One-hot: clear winner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1, 0) — P &amp; T right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[0.5, 0.5, 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Soft: split mass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1, 1) — all correct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preference to learn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0) — all wrong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signal to learn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28% of training questions are routable (140 of 500)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· CSE 676A · Spring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Router Held-Out Evaluation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MedQA val questions · Gemma2-9B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109728" cy="502920"/>
          </a:xfrm>
          <a:prstGeom prst="rect">
            <a:avLst/>
          </a:prstGeom>
          <a:solidFill>
            <a:srgbClr val="2A9D8F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691640"/>
            <a:ext cx="4480560" cy="4114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4"/>
          <p:cNvSpPr/>
          <p:nvPr/>
        </p:nvSpPr>
        <p:spPr>
          <a:xfrm>
            <a:off x="740664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FINDING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06640" y="23317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96.5%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40664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held-out questions routed to Mode 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0664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collapsed.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06640" y="41148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Gemma2-9B, parametric knowledge subsumes RAG and KG for USMLE. The router correctly learned that P is usually best — adaptive routing has limited room to operate at this scale.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mode usage:  P=96.5%  ·  T=3.5%  ·  H=0.0%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· CSE 676A · Spring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Findings: What Worked, What Didn't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the journey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109728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440680" cy="42976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109728" cy="42976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WORKED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5074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retrieval pipeline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+6pp over baseline (51% → 57%)
</a:t>
            </a:r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PrimeKG infrastructure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 USMLE coverage, no rate limits
</a:t>
            </a:r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scispaCy NER (BC5CDR)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medical entities, not regex fragments
</a:t>
            </a:r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passages AND triples
</a:t>
            </a:r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context injection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Threshold-based, prevents noise harm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42976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1691640"/>
            <a:ext cx="109728" cy="4297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288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DIDN'T WORK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331720"/>
            <a:ext cx="5074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 as the medical KG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Rate-limited; sparse medical coverage
</a:t>
            </a:r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contribution on Gemma2-9B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+0–1pp; the model already knows
</a:t>
            </a:r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router on Gemma2-9B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to always-P (no routable signal)
</a:t>
            </a:r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regex entity extractor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'59yearold', 'with', stop words
</a:t>
            </a:r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Always-inject context (baseline)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Hurts when retrieval is poor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· CSE 676A · Spring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&amp; Future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built, what we learned, what's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109728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1691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an end-to-end hybrid RAG + KG pipeline for medical QA, demonstrated +6pp gain over baseline RAG on Gemma2-9B, and trained an MLP router for adaptive mode selection. </a:t>
            </a:r>
            <a:pPr indent="0" marL="0">
              <a:buNone/>
            </a:pPr>
            <a:r>
              <a:rPr lang="en-US" sz="1300" i="1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Gemma2-9B, the router converged to always-parametric — a real finding that validates the diminishing-returns hypothesis from prior work (Adaptive-RAG, HybridRAG): adaptive routing is most valuable for smaller models with weaker parametric coverage.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26289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4114800"/>
            <a:ext cx="2628900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343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85800" y="4892040"/>
            <a:ext cx="2354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fine-tune Gemma2-2B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5257800"/>
            <a:ext cx="2354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DL training. Expected +5–10pp.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60420" y="4114800"/>
            <a:ext cx="26289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60420" y="4114800"/>
            <a:ext cx="2628900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3497580" y="4343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497580" y="4892040"/>
            <a:ext cx="2354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stack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97580" y="5257800"/>
            <a:ext cx="2354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 samples + majority vote. Expected +3–5pp on small models.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4114800"/>
            <a:ext cx="26289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4114800"/>
            <a:ext cx="2628900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343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309360" y="4892040"/>
            <a:ext cx="2354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Smaller-model demonstration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5257800"/>
            <a:ext cx="2354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pipeline on Gemma2-2B where mode separation is larger and the router has signal to learn.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83980" y="4114800"/>
            <a:ext cx="26289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83980" y="4114800"/>
            <a:ext cx="2628900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9121140" y="4343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121140" y="4892040"/>
            <a:ext cx="2354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mutual ranking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21140" y="5257800"/>
            <a:ext cx="2354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top passages to score triples and vice versa. Underexplored in prior work.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· CSE 676A · Spring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RAG + Adaptive Routing for MedQA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0" y="3017520"/>
            <a:ext cx="30175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3383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FD3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+6pp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28016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gain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3383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FD3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87.5%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84632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PrimeKG coverage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3383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FD3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41248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features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RAG for Medical QA</dc:title>
  <dc:subject>PptxGenJS Presentation</dc:subject>
  <dc:creator>CSE 676A Final Project</dc:creator>
  <cp:lastModifiedBy>CSE 676A Final Project</cp:lastModifiedBy>
  <cp:revision>1</cp:revision>
  <dcterms:created xsi:type="dcterms:W3CDTF">2026-04-28T16:00:15Z</dcterms:created>
  <dcterms:modified xsi:type="dcterms:W3CDTF">2026-04-28T16:00:15Z</dcterms:modified>
</cp:coreProperties>
</file>